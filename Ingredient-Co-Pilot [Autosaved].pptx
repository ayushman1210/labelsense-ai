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Instrument Sans Medium" panose="020B0604020202020204" charset="0"/>
      <p:regular r:id="rId17"/>
    </p:embeddedFont>
    <p:embeddedFont>
      <p:font typeface="Inter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05" autoAdjust="0"/>
    <p:restoredTop sz="94610"/>
  </p:normalViewPr>
  <p:slideViewPr>
    <p:cSldViewPr snapToGrid="0" snapToObjects="1">
      <p:cViewPr varScale="1">
        <p:scale>
          <a:sx n="52" d="100"/>
          <a:sy n="52" d="100"/>
        </p:scale>
        <p:origin x="88" y="3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75770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2429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2429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2429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2429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2429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2429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2429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2429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2429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2429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-5-7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-5-5.svg"/><Relationship Id="rId5" Type="http://schemas.openxmlformats.org/officeDocument/2006/relationships/image" Target="../media/image-5-3.svg"/><Relationship Id="rId4" Type="http://schemas.openxmlformats.org/officeDocument/2006/relationships/image" Target="../media/image7.png"/><Relationship Id="rId9" Type="http://schemas.openxmlformats.org/officeDocument/2006/relationships/image" Target="../media/image-5-9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-7-7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-7-5.svg"/><Relationship Id="rId5" Type="http://schemas.openxmlformats.org/officeDocument/2006/relationships/image" Target="../media/image-7-3.svg"/><Relationship Id="rId4" Type="http://schemas.openxmlformats.org/officeDocument/2006/relationships/image" Target="../media/image7.png"/><Relationship Id="rId9" Type="http://schemas.openxmlformats.org/officeDocument/2006/relationships/image" Target="../media/image-7-9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302609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550"/>
              </a:lnSpc>
            </a:pPr>
            <a:r>
              <a:rPr lang="en-US" sz="4450" dirty="0" err="1" smtClean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IngreSense</a:t>
            </a:r>
            <a:r>
              <a:rPr lang="en-US" sz="4450" dirty="0" smtClean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-AI 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075033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Understand food ingredients instantly, without cognitive load.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280190" y="4778097"/>
            <a:ext cx="622399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AI-Native Consumer Health Experience</a:t>
            </a:r>
            <a:endParaRPr lang="en-US" sz="2650" dirty="0"/>
          </a:p>
        </p:txBody>
      </p:sp>
      <p:sp>
        <p:nvSpPr>
          <p:cNvPr id="6" name="Rectangle 5"/>
          <p:cNvSpPr/>
          <p:nvPr/>
        </p:nvSpPr>
        <p:spPr>
          <a:xfrm>
            <a:off x="12770778" y="7777537"/>
            <a:ext cx="1746606" cy="36987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70798" y="823317"/>
            <a:ext cx="7591544" cy="598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Problem: Unclear Food Labels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670798" y="1709618"/>
            <a:ext cx="7802404" cy="1149906"/>
          </a:xfrm>
          <a:prstGeom prst="roundRect">
            <a:avLst>
              <a:gd name="adj" fmla="val 9542"/>
            </a:avLst>
          </a:prstGeom>
          <a:solidFill>
            <a:srgbClr val="242429"/>
          </a:solidFill>
          <a:ln w="22860">
            <a:solidFill>
              <a:srgbClr val="5C5C61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47938" y="1709618"/>
            <a:ext cx="91440" cy="1149906"/>
          </a:xfrm>
          <a:prstGeom prst="roundRect">
            <a:avLst>
              <a:gd name="adj" fmla="val 31440"/>
            </a:avLst>
          </a:prstGeom>
          <a:solidFill>
            <a:srgbClr val="FDC4C4"/>
          </a:solidFill>
          <a:ln/>
        </p:spPr>
      </p:sp>
      <p:sp>
        <p:nvSpPr>
          <p:cNvPr id="6" name="Text 3"/>
          <p:cNvSpPr/>
          <p:nvPr/>
        </p:nvSpPr>
        <p:spPr>
          <a:xfrm>
            <a:off x="953810" y="1924050"/>
            <a:ext cx="2395657" cy="299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Complex Ingredients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953810" y="2338387"/>
            <a:ext cx="7304961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Long, chemical-heavy lists are hard to decipher.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70798" y="3051096"/>
            <a:ext cx="7802404" cy="1149906"/>
          </a:xfrm>
          <a:prstGeom prst="roundRect">
            <a:avLst>
              <a:gd name="adj" fmla="val 9542"/>
            </a:avLst>
          </a:prstGeom>
          <a:solidFill>
            <a:srgbClr val="242429"/>
          </a:solidFill>
          <a:ln w="22860">
            <a:solidFill>
              <a:srgbClr val="5C5C6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7938" y="3051096"/>
            <a:ext cx="91440" cy="1149906"/>
          </a:xfrm>
          <a:prstGeom prst="roundRect">
            <a:avLst>
              <a:gd name="adj" fmla="val 31440"/>
            </a:avLst>
          </a:prstGeom>
          <a:solidFill>
            <a:srgbClr val="FDC4C4"/>
          </a:solidFill>
          <a:ln/>
        </p:spPr>
      </p:sp>
      <p:sp>
        <p:nvSpPr>
          <p:cNvPr id="10" name="Text 7"/>
          <p:cNvSpPr/>
          <p:nvPr/>
        </p:nvSpPr>
        <p:spPr>
          <a:xfrm>
            <a:off x="953810" y="3265527"/>
            <a:ext cx="2395657" cy="299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Conflicting Guidance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953810" y="3679865"/>
            <a:ext cx="7304961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Health advice is often unclear or contradictory.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70798" y="4392573"/>
            <a:ext cx="7802404" cy="1149906"/>
          </a:xfrm>
          <a:prstGeom prst="roundRect">
            <a:avLst>
              <a:gd name="adj" fmla="val 9542"/>
            </a:avLst>
          </a:prstGeom>
          <a:solidFill>
            <a:srgbClr val="242429"/>
          </a:solidFill>
          <a:ln w="22860">
            <a:solidFill>
              <a:srgbClr val="5C5C6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47938" y="4392573"/>
            <a:ext cx="91440" cy="1149906"/>
          </a:xfrm>
          <a:prstGeom prst="roundRect">
            <a:avLst>
              <a:gd name="adj" fmla="val 31440"/>
            </a:avLst>
          </a:prstGeom>
          <a:solidFill>
            <a:srgbClr val="FDC4C4"/>
          </a:solidFill>
          <a:ln/>
        </p:spPr>
      </p:sp>
      <p:sp>
        <p:nvSpPr>
          <p:cNvPr id="14" name="Text 11"/>
          <p:cNvSpPr/>
          <p:nvPr/>
        </p:nvSpPr>
        <p:spPr>
          <a:xfrm>
            <a:off x="953810" y="4607004"/>
            <a:ext cx="2395657" cy="299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Data Overload</a:t>
            </a:r>
            <a:endParaRPr lang="en-US" sz="1850" dirty="0"/>
          </a:p>
        </p:txBody>
      </p:sp>
      <p:sp>
        <p:nvSpPr>
          <p:cNvPr id="15" name="Text 12"/>
          <p:cNvSpPr/>
          <p:nvPr/>
        </p:nvSpPr>
        <p:spPr>
          <a:xfrm>
            <a:off x="953810" y="5021342"/>
            <a:ext cx="7304961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Existing apps provide data, not actionable insight.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670798" y="5734050"/>
            <a:ext cx="7802404" cy="1149906"/>
          </a:xfrm>
          <a:prstGeom prst="roundRect">
            <a:avLst>
              <a:gd name="adj" fmla="val 9542"/>
            </a:avLst>
          </a:prstGeom>
          <a:solidFill>
            <a:srgbClr val="242429"/>
          </a:solidFill>
          <a:ln w="22860">
            <a:solidFill>
              <a:srgbClr val="5C5C61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47938" y="5734050"/>
            <a:ext cx="91440" cy="1149906"/>
          </a:xfrm>
          <a:prstGeom prst="roundRect">
            <a:avLst>
              <a:gd name="adj" fmla="val 31440"/>
            </a:avLst>
          </a:prstGeom>
          <a:solidFill>
            <a:srgbClr val="FDC4C4"/>
          </a:solidFill>
          <a:ln/>
        </p:spPr>
      </p:sp>
      <p:sp>
        <p:nvSpPr>
          <p:cNvPr id="18" name="Text 15"/>
          <p:cNvSpPr/>
          <p:nvPr/>
        </p:nvSpPr>
        <p:spPr>
          <a:xfrm>
            <a:off x="953810" y="5948482"/>
            <a:ext cx="2395657" cy="299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Time Pressure</a:t>
            </a:r>
            <a:endParaRPr lang="en-US" sz="1850" dirty="0"/>
          </a:p>
        </p:txBody>
      </p:sp>
      <p:sp>
        <p:nvSpPr>
          <p:cNvPr id="19" name="Text 16"/>
          <p:cNvSpPr/>
          <p:nvPr/>
        </p:nvSpPr>
        <p:spPr>
          <a:xfrm>
            <a:off x="953810" y="6362819"/>
            <a:ext cx="7304961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Decisions are made quickly, leading to uncertainty.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670798" y="7099459"/>
            <a:ext cx="7802404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insight: Food labels are optimized for regulation, not human understanding.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3768" y="490061"/>
            <a:ext cx="5570577" cy="556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50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Why Existing Solutions Fail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603883" y="2434057"/>
            <a:ext cx="6474023" cy="285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Menu-driven, form-based interfaces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3884" y="3254711"/>
            <a:ext cx="6474023" cy="285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Require manual filters and configuration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23768" y="3978119"/>
            <a:ext cx="6474023" cy="285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Treat AI as an add-on feature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23768" y="4624285"/>
            <a:ext cx="6474023" cy="285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Dump raw data instead of reasoning</a:t>
            </a:r>
            <a:endParaRPr lang="en-US" sz="14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1469" y="908538"/>
            <a:ext cx="6474023" cy="647402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23768" y="8389739"/>
            <a:ext cx="13382863" cy="285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Result: Users remain uncertain at the exact moment decisions matter.</a:t>
            </a:r>
            <a:endParaRPr lang="en-US" sz="1400" dirty="0"/>
          </a:p>
        </p:txBody>
      </p:sp>
      <p:sp>
        <p:nvSpPr>
          <p:cNvPr id="9" name="Rectangle 8"/>
          <p:cNvSpPr/>
          <p:nvPr/>
        </p:nvSpPr>
        <p:spPr>
          <a:xfrm>
            <a:off x="12770778" y="7777537"/>
            <a:ext cx="1746606" cy="36987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71724" y="538996"/>
            <a:ext cx="7773352" cy="1223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Our Vision: AI-Native Understanding</a:t>
            </a:r>
            <a:endParaRPr lang="en-US" sz="3850" dirty="0"/>
          </a:p>
        </p:txBody>
      </p:sp>
      <p:sp>
        <p:nvSpPr>
          <p:cNvPr id="4" name="Text 1"/>
          <p:cNvSpPr/>
          <p:nvPr/>
        </p:nvSpPr>
        <p:spPr>
          <a:xfrm>
            <a:off x="6171724" y="2056686"/>
            <a:ext cx="7773352" cy="313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Reimagine ingredient understanding with an AI-native approach.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6171724" y="2590324"/>
            <a:ext cx="7773352" cy="1128236"/>
          </a:xfrm>
          <a:prstGeom prst="roundRect">
            <a:avLst>
              <a:gd name="adj" fmla="val 2603"/>
            </a:avLst>
          </a:prstGeom>
          <a:solidFill>
            <a:srgbClr val="434348"/>
          </a:solidFill>
          <a:ln/>
        </p:spPr>
      </p:sp>
      <p:sp>
        <p:nvSpPr>
          <p:cNvPr id="6" name="Text 3"/>
          <p:cNvSpPr/>
          <p:nvPr/>
        </p:nvSpPr>
        <p:spPr>
          <a:xfrm>
            <a:off x="6367462" y="2786062"/>
            <a:ext cx="2447687" cy="305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Intent-First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6367462" y="3209449"/>
            <a:ext cx="7381875" cy="313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Focus on user intent, not manual filters.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171724" y="3914299"/>
            <a:ext cx="7773352" cy="1128236"/>
          </a:xfrm>
          <a:prstGeom prst="roundRect">
            <a:avLst>
              <a:gd name="adj" fmla="val 2603"/>
            </a:avLst>
          </a:prstGeom>
          <a:solidFill>
            <a:srgbClr val="434348"/>
          </a:solidFill>
          <a:ln/>
        </p:spPr>
      </p:sp>
      <p:sp>
        <p:nvSpPr>
          <p:cNvPr id="9" name="Text 6"/>
          <p:cNvSpPr/>
          <p:nvPr/>
        </p:nvSpPr>
        <p:spPr>
          <a:xfrm>
            <a:off x="6367462" y="4110038"/>
            <a:ext cx="2447687" cy="305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AI Reasoning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6367462" y="4533424"/>
            <a:ext cx="7381875" cy="313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reasons on behalf of the user.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171724" y="5238274"/>
            <a:ext cx="7773352" cy="1128236"/>
          </a:xfrm>
          <a:prstGeom prst="roundRect">
            <a:avLst>
              <a:gd name="adj" fmla="val 2603"/>
            </a:avLst>
          </a:prstGeom>
          <a:solidFill>
            <a:srgbClr val="434348"/>
          </a:solidFill>
          <a:ln/>
        </p:spPr>
      </p:sp>
      <p:sp>
        <p:nvSpPr>
          <p:cNvPr id="12" name="Text 9"/>
          <p:cNvSpPr/>
          <p:nvPr/>
        </p:nvSpPr>
        <p:spPr>
          <a:xfrm>
            <a:off x="6367462" y="5434013"/>
            <a:ext cx="2447687" cy="305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Minimal UI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6367462" y="5857399"/>
            <a:ext cx="7381875" cy="313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Maximum clarity with a simple interface.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171724" y="6562249"/>
            <a:ext cx="7773352" cy="1128236"/>
          </a:xfrm>
          <a:prstGeom prst="roundRect">
            <a:avLst>
              <a:gd name="adj" fmla="val 2603"/>
            </a:avLst>
          </a:prstGeom>
          <a:solidFill>
            <a:srgbClr val="434348"/>
          </a:solidFill>
          <a:ln/>
        </p:spPr>
      </p:sp>
      <p:sp>
        <p:nvSpPr>
          <p:cNvPr id="15" name="Text 12"/>
          <p:cNvSpPr/>
          <p:nvPr/>
        </p:nvSpPr>
        <p:spPr>
          <a:xfrm>
            <a:off x="6367462" y="6757988"/>
            <a:ext cx="2716411" cy="305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Honest Communication</a:t>
            </a:r>
            <a:endParaRPr lang="en-US" sz="1900" dirty="0"/>
          </a:p>
        </p:txBody>
      </p:sp>
      <p:sp>
        <p:nvSpPr>
          <p:cNvPr id="16" name="Text 13"/>
          <p:cNvSpPr/>
          <p:nvPr/>
        </p:nvSpPr>
        <p:spPr>
          <a:xfrm>
            <a:off x="6367462" y="7181374"/>
            <a:ext cx="7381875" cy="313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Transparently highlights uncertainty.</a:t>
            </a:r>
            <a:endParaRPr lang="en-US" sz="1500" dirty="0"/>
          </a:p>
        </p:txBody>
      </p:sp>
      <p:sp>
        <p:nvSpPr>
          <p:cNvPr id="17" name="Rectangle 16"/>
          <p:cNvSpPr/>
          <p:nvPr/>
        </p:nvSpPr>
        <p:spPr>
          <a:xfrm>
            <a:off x="12770778" y="7777537"/>
            <a:ext cx="1746606" cy="36987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8042" y="659963"/>
            <a:ext cx="6789420" cy="471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00"/>
              </a:lnSpc>
              <a:buNone/>
            </a:pPr>
            <a:r>
              <a:rPr lang="en-US" sz="29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Proposed Solution: </a:t>
            </a:r>
            <a:r>
              <a:rPr lang="en-US" sz="2950" dirty="0" err="1" smtClean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IngreSense</a:t>
            </a:r>
            <a:r>
              <a:rPr lang="en-US" sz="2950" dirty="0" smtClean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-AI</a:t>
            </a:r>
            <a:endParaRPr lang="en-US" sz="2950" dirty="0"/>
          </a:p>
        </p:txBody>
      </p:sp>
      <p:sp>
        <p:nvSpPr>
          <p:cNvPr id="4" name="Text 1"/>
          <p:cNvSpPr/>
          <p:nvPr/>
        </p:nvSpPr>
        <p:spPr>
          <a:xfrm>
            <a:off x="528042" y="1357670"/>
            <a:ext cx="8087916" cy="241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20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AI assistant that acts as a co-pilot, not a lookup tool.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528042" y="1994892"/>
            <a:ext cx="8087916" cy="1110853"/>
          </a:xfrm>
          <a:prstGeom prst="roundRect">
            <a:avLst>
              <a:gd name="adj" fmla="val 6585"/>
            </a:avLst>
          </a:prstGeom>
          <a:solidFill>
            <a:srgbClr val="242429"/>
          </a:solidFill>
          <a:ln/>
        </p:spPr>
      </p:sp>
      <p:sp>
        <p:nvSpPr>
          <p:cNvPr id="6" name="Shape 3"/>
          <p:cNvSpPr/>
          <p:nvPr/>
        </p:nvSpPr>
        <p:spPr>
          <a:xfrm>
            <a:off x="528042" y="1979652"/>
            <a:ext cx="8087916" cy="60960"/>
          </a:xfrm>
          <a:prstGeom prst="roundRect">
            <a:avLst>
              <a:gd name="adj" fmla="val 37127"/>
            </a:avLst>
          </a:prstGeom>
          <a:solidFill>
            <a:srgbClr val="FDC4C4"/>
          </a:solidFill>
          <a:ln/>
        </p:spPr>
      </p:sp>
      <p:sp>
        <p:nvSpPr>
          <p:cNvPr id="7" name="Shape 4"/>
          <p:cNvSpPr/>
          <p:nvPr/>
        </p:nvSpPr>
        <p:spPr>
          <a:xfrm>
            <a:off x="4345722" y="1768673"/>
            <a:ext cx="452557" cy="452557"/>
          </a:xfrm>
          <a:prstGeom prst="roundRect">
            <a:avLst>
              <a:gd name="adj" fmla="val 202052"/>
            </a:avLst>
          </a:prstGeom>
          <a:solidFill>
            <a:srgbClr val="FDC4C4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81453" y="1904405"/>
            <a:ext cx="180975" cy="18097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79251" y="2295229"/>
            <a:ext cx="1900952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6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Interprets Ingredients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694134" y="2698313"/>
            <a:ext cx="7755731" cy="241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6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Explains complex ingredients for the user</a:t>
            </a:r>
            <a:r>
              <a:rPr lang="en-US" sz="11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528042" y="3482816"/>
            <a:ext cx="8087916" cy="1110853"/>
          </a:xfrm>
          <a:prstGeom prst="roundRect">
            <a:avLst>
              <a:gd name="adj" fmla="val 6585"/>
            </a:avLst>
          </a:prstGeom>
          <a:solidFill>
            <a:srgbClr val="242429"/>
          </a:solidFill>
          <a:ln/>
        </p:spPr>
      </p:sp>
      <p:sp>
        <p:nvSpPr>
          <p:cNvPr id="12" name="Shape 8"/>
          <p:cNvSpPr/>
          <p:nvPr/>
        </p:nvSpPr>
        <p:spPr>
          <a:xfrm>
            <a:off x="528042" y="3467576"/>
            <a:ext cx="8087916" cy="60960"/>
          </a:xfrm>
          <a:prstGeom prst="roundRect">
            <a:avLst>
              <a:gd name="adj" fmla="val 37127"/>
            </a:avLst>
          </a:prstGeom>
          <a:solidFill>
            <a:srgbClr val="FDC4C4"/>
          </a:solidFill>
          <a:ln/>
        </p:spPr>
      </p:sp>
      <p:sp>
        <p:nvSpPr>
          <p:cNvPr id="13" name="Shape 9"/>
          <p:cNvSpPr/>
          <p:nvPr/>
        </p:nvSpPr>
        <p:spPr>
          <a:xfrm>
            <a:off x="4345722" y="3256598"/>
            <a:ext cx="452557" cy="452557"/>
          </a:xfrm>
          <a:prstGeom prst="roundRect">
            <a:avLst>
              <a:gd name="adj" fmla="val 202052"/>
            </a:avLst>
          </a:prstGeom>
          <a:solidFill>
            <a:srgbClr val="FDC4C4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81453" y="3392329"/>
            <a:ext cx="180975" cy="18097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134" y="3860006"/>
            <a:ext cx="1886069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6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Explains Significance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694134" y="4186238"/>
            <a:ext cx="7755731" cy="241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6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Clarifies why certain ingredients matter.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528042" y="4970740"/>
            <a:ext cx="8087916" cy="1110853"/>
          </a:xfrm>
          <a:prstGeom prst="roundRect">
            <a:avLst>
              <a:gd name="adj" fmla="val 6585"/>
            </a:avLst>
          </a:prstGeom>
          <a:solidFill>
            <a:srgbClr val="242429"/>
          </a:solidFill>
          <a:ln/>
        </p:spPr>
      </p:sp>
      <p:sp>
        <p:nvSpPr>
          <p:cNvPr id="18" name="Shape 13"/>
          <p:cNvSpPr/>
          <p:nvPr/>
        </p:nvSpPr>
        <p:spPr>
          <a:xfrm>
            <a:off x="528042" y="4955500"/>
            <a:ext cx="8087916" cy="60960"/>
          </a:xfrm>
          <a:prstGeom prst="roundRect">
            <a:avLst>
              <a:gd name="adj" fmla="val 37127"/>
            </a:avLst>
          </a:prstGeom>
          <a:solidFill>
            <a:srgbClr val="FDC4C4"/>
          </a:solidFill>
          <a:ln/>
        </p:spPr>
      </p:sp>
      <p:sp>
        <p:nvSpPr>
          <p:cNvPr id="19" name="Shape 14"/>
          <p:cNvSpPr/>
          <p:nvPr/>
        </p:nvSpPr>
        <p:spPr>
          <a:xfrm>
            <a:off x="4345722" y="4744522"/>
            <a:ext cx="452557" cy="452557"/>
          </a:xfrm>
          <a:prstGeom prst="roundRect">
            <a:avLst>
              <a:gd name="adj" fmla="val 202052"/>
            </a:avLst>
          </a:prstGeom>
          <a:solidFill>
            <a:srgbClr val="FDC4C4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81453" y="4880253"/>
            <a:ext cx="180975" cy="18097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94134" y="5347930"/>
            <a:ext cx="1886069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6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Highlights Trade-offs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694134" y="5674162"/>
            <a:ext cx="7755731" cy="241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6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Presents pros and cons, including uncertainty.</a:t>
            </a:r>
            <a:endParaRPr lang="en-US" sz="1600" dirty="0"/>
          </a:p>
        </p:txBody>
      </p:sp>
      <p:sp>
        <p:nvSpPr>
          <p:cNvPr id="23" name="Shape 17"/>
          <p:cNvSpPr/>
          <p:nvPr/>
        </p:nvSpPr>
        <p:spPr>
          <a:xfrm>
            <a:off x="528042" y="6458664"/>
            <a:ext cx="8087916" cy="1110853"/>
          </a:xfrm>
          <a:prstGeom prst="roundRect">
            <a:avLst>
              <a:gd name="adj" fmla="val 6585"/>
            </a:avLst>
          </a:prstGeom>
          <a:solidFill>
            <a:srgbClr val="242429"/>
          </a:solidFill>
          <a:ln/>
        </p:spPr>
      </p:sp>
      <p:sp>
        <p:nvSpPr>
          <p:cNvPr id="24" name="Shape 18"/>
          <p:cNvSpPr/>
          <p:nvPr/>
        </p:nvSpPr>
        <p:spPr>
          <a:xfrm>
            <a:off x="528042" y="6443424"/>
            <a:ext cx="8087916" cy="60960"/>
          </a:xfrm>
          <a:prstGeom prst="roundRect">
            <a:avLst>
              <a:gd name="adj" fmla="val 37127"/>
            </a:avLst>
          </a:prstGeom>
          <a:solidFill>
            <a:srgbClr val="FDC4C4"/>
          </a:solidFill>
          <a:ln/>
        </p:spPr>
      </p:sp>
      <p:sp>
        <p:nvSpPr>
          <p:cNvPr id="25" name="Shape 19"/>
          <p:cNvSpPr/>
          <p:nvPr/>
        </p:nvSpPr>
        <p:spPr>
          <a:xfrm>
            <a:off x="4345722" y="6232446"/>
            <a:ext cx="452557" cy="452557"/>
          </a:xfrm>
          <a:prstGeom prst="roundRect">
            <a:avLst>
              <a:gd name="adj" fmla="val 202052"/>
            </a:avLst>
          </a:prstGeom>
          <a:solidFill>
            <a:srgbClr val="FDC4C4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481453" y="6368177"/>
            <a:ext cx="180975" cy="18097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94134" y="6835854"/>
            <a:ext cx="2111573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6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Reduces Cognitive Load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694134" y="7162086"/>
            <a:ext cx="7755731" cy="241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6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Simplifies decision-making at critical moments.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4607" y="522208"/>
            <a:ext cx="5297686" cy="5932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0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How It Works: User Flow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607" y="1495187"/>
            <a:ext cx="949404" cy="113930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03797" y="1684973"/>
            <a:ext cx="2373749" cy="296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Scan Ingredient List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1803797" y="2095500"/>
            <a:ext cx="12161996" cy="303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scans or pastes image/text.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607" y="2634496"/>
            <a:ext cx="949404" cy="113930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803797" y="2824282"/>
            <a:ext cx="2373749" cy="296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AI Infers Intent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1803797" y="3234809"/>
            <a:ext cx="12161996" cy="303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automatically understands user's goal.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607" y="3773805"/>
            <a:ext cx="949404" cy="113930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803797" y="3963591"/>
            <a:ext cx="2373749" cy="296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AI Reasons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1803797" y="4374118"/>
            <a:ext cx="12161996" cy="303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processes and analyzes ingredients.</a:t>
            </a:r>
            <a:endParaRPr lang="en-US" sz="14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607" y="4913114"/>
            <a:ext cx="949404" cy="113930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803797" y="5102900"/>
            <a:ext cx="2561868" cy="296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Insight Card Generated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1803797" y="5513427"/>
            <a:ext cx="12161996" cy="303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adaptive insight card is created.</a:t>
            </a:r>
            <a:endParaRPr lang="en-US" sz="14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607" y="6052423"/>
            <a:ext cx="949404" cy="1139309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803797" y="6242209"/>
            <a:ext cx="2373749" cy="296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Clarity in Seconds</a:t>
            </a:r>
            <a:endParaRPr lang="en-US" sz="1850" dirty="0"/>
          </a:p>
        </p:txBody>
      </p:sp>
      <p:sp>
        <p:nvSpPr>
          <p:cNvPr id="17" name="Text 10"/>
          <p:cNvSpPr/>
          <p:nvPr/>
        </p:nvSpPr>
        <p:spPr>
          <a:xfrm>
            <a:off x="1803797" y="6652736"/>
            <a:ext cx="12161996" cy="303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quickly reaches understanding.</a:t>
            </a:r>
            <a:endParaRPr lang="en-US" sz="1450" dirty="0"/>
          </a:p>
        </p:txBody>
      </p:sp>
      <p:sp>
        <p:nvSpPr>
          <p:cNvPr id="18" name="Text 11"/>
          <p:cNvSpPr/>
          <p:nvPr/>
        </p:nvSpPr>
        <p:spPr>
          <a:xfrm>
            <a:off x="664607" y="7405330"/>
            <a:ext cx="13301186" cy="303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forms. No filters. No onboarding.</a:t>
            </a:r>
            <a:endParaRPr lang="en-US" sz="1450" dirty="0"/>
          </a:p>
        </p:txBody>
      </p:sp>
      <p:sp>
        <p:nvSpPr>
          <p:cNvPr id="19" name="Rectangle 18"/>
          <p:cNvSpPr/>
          <p:nvPr/>
        </p:nvSpPr>
        <p:spPr>
          <a:xfrm>
            <a:off x="12770778" y="7777537"/>
            <a:ext cx="1746606" cy="36987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59496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6519" y="3165872"/>
            <a:ext cx="6328172" cy="648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0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True AI-Native Experience</a:t>
            </a:r>
            <a:endParaRPr lang="en-US" sz="40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6519" y="4125873"/>
            <a:ext cx="518993" cy="51899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26519" y="4904303"/>
            <a:ext cx="2710934" cy="324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AI as Primary Interface</a:t>
            </a:r>
            <a:endParaRPr lang="en-US" sz="2000" dirty="0"/>
          </a:p>
        </p:txBody>
      </p:sp>
      <p:sp>
        <p:nvSpPr>
          <p:cNvPr id="6" name="Text 2"/>
          <p:cNvSpPr/>
          <p:nvPr/>
        </p:nvSpPr>
        <p:spPr>
          <a:xfrm>
            <a:off x="726519" y="5353288"/>
            <a:ext cx="6458903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is the core interaction, not a feature.</a:t>
            </a:r>
            <a:endParaRPr lang="en-US" sz="16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44859" y="4125873"/>
            <a:ext cx="518993" cy="51899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444859" y="4904303"/>
            <a:ext cx="2594967" cy="324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No Dashboards</a:t>
            </a:r>
            <a:endParaRPr lang="en-US" sz="2000" dirty="0"/>
          </a:p>
        </p:txBody>
      </p:sp>
      <p:sp>
        <p:nvSpPr>
          <p:cNvPr id="9" name="Text 4"/>
          <p:cNvSpPr/>
          <p:nvPr/>
        </p:nvSpPr>
        <p:spPr>
          <a:xfrm>
            <a:off x="7444859" y="5353288"/>
            <a:ext cx="6459022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Focus on understanding, not data browsing.</a:t>
            </a:r>
            <a:endParaRPr lang="en-US" sz="16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26519" y="6100643"/>
            <a:ext cx="518993" cy="51899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26519" y="6879074"/>
            <a:ext cx="2594967" cy="324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Context-Aware</a:t>
            </a:r>
            <a:endParaRPr lang="en-US" sz="2000" dirty="0"/>
          </a:p>
        </p:txBody>
      </p:sp>
      <p:sp>
        <p:nvSpPr>
          <p:cNvPr id="12" name="Text 6"/>
          <p:cNvSpPr/>
          <p:nvPr/>
        </p:nvSpPr>
        <p:spPr>
          <a:xfrm>
            <a:off x="726519" y="7328059"/>
            <a:ext cx="6458903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Adaptive and relevant responses.</a:t>
            </a:r>
            <a:endParaRPr lang="en-US" sz="16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444859" y="6100643"/>
            <a:ext cx="518993" cy="518993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7444859" y="6879074"/>
            <a:ext cx="2594967" cy="324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Silent Learning</a:t>
            </a:r>
            <a:endParaRPr lang="en-US" sz="2000" dirty="0"/>
          </a:p>
        </p:txBody>
      </p:sp>
      <p:sp>
        <p:nvSpPr>
          <p:cNvPr id="15" name="Text 8"/>
          <p:cNvSpPr/>
          <p:nvPr/>
        </p:nvSpPr>
        <p:spPr>
          <a:xfrm>
            <a:off x="7444859" y="7328059"/>
            <a:ext cx="6459022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learns user preferences discreetly.</a:t>
            </a:r>
            <a:endParaRPr lang="en-US" sz="1600" dirty="0"/>
          </a:p>
        </p:txBody>
      </p:sp>
      <p:sp>
        <p:nvSpPr>
          <p:cNvPr id="16" name="Rectangle 15"/>
          <p:cNvSpPr/>
          <p:nvPr/>
        </p:nvSpPr>
        <p:spPr>
          <a:xfrm>
            <a:off x="12770778" y="7777537"/>
            <a:ext cx="1746606" cy="36987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483876"/>
            <a:ext cx="698003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Reasoning &amp; Explainability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2532817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AI explains, rather than just listing ingredients.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793790" y="3150870"/>
            <a:ext cx="7556421" cy="2976801"/>
          </a:xfrm>
          <a:prstGeom prst="roundRect">
            <a:avLst>
              <a:gd name="adj" fmla="val 1143"/>
            </a:avLst>
          </a:prstGeom>
          <a:solidFill>
            <a:srgbClr val="434348"/>
          </a:solidFill>
          <a:ln/>
        </p:spPr>
      </p:sp>
      <p:sp>
        <p:nvSpPr>
          <p:cNvPr id="6" name="Shape 3"/>
          <p:cNvSpPr/>
          <p:nvPr/>
        </p:nvSpPr>
        <p:spPr>
          <a:xfrm>
            <a:off x="793790" y="3150870"/>
            <a:ext cx="3778210" cy="1669852"/>
          </a:xfrm>
          <a:prstGeom prst="roundRect">
            <a:avLst>
              <a:gd name="adj" fmla="val 2038"/>
            </a:avLst>
          </a:prstGeom>
          <a:solidFill>
            <a:srgbClr val="434348"/>
          </a:solidFill>
          <a:ln/>
        </p:spPr>
      </p:sp>
      <p:sp>
        <p:nvSpPr>
          <p:cNvPr id="7" name="Text 4"/>
          <p:cNvSpPr/>
          <p:nvPr/>
        </p:nvSpPr>
        <p:spPr>
          <a:xfrm>
            <a:off x="1020604" y="337768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Why it Matters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20604" y="3868103"/>
            <a:ext cx="332458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Contextual explanation of ingredient impact.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4572000" y="3150870"/>
            <a:ext cx="3778210" cy="1669852"/>
          </a:xfrm>
          <a:prstGeom prst="rect">
            <a:avLst/>
          </a:prstGeom>
          <a:solidFill>
            <a:srgbClr val="434348"/>
          </a:solidFill>
          <a:ln/>
        </p:spPr>
      </p:sp>
      <p:sp>
        <p:nvSpPr>
          <p:cNvPr id="10" name="Shape 7"/>
          <p:cNvSpPr/>
          <p:nvPr/>
        </p:nvSpPr>
        <p:spPr>
          <a:xfrm>
            <a:off x="4572000" y="3150870"/>
            <a:ext cx="30480" cy="1669852"/>
          </a:xfrm>
          <a:prstGeom prst="roundRect">
            <a:avLst>
              <a:gd name="adj" fmla="val 111628"/>
            </a:avLst>
          </a:prstGeom>
          <a:solidFill>
            <a:srgbClr val="5C5C61"/>
          </a:solidFill>
          <a:ln/>
        </p:spPr>
      </p:sp>
      <p:sp>
        <p:nvSpPr>
          <p:cNvPr id="11" name="Text 8"/>
          <p:cNvSpPr/>
          <p:nvPr/>
        </p:nvSpPr>
        <p:spPr>
          <a:xfrm>
            <a:off x="4798814" y="337768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Trade-offs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4798814" y="3868103"/>
            <a:ext cx="332458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Balanced view of benefits vs. drawbacks.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793790" y="4820722"/>
            <a:ext cx="7556421" cy="1306949"/>
          </a:xfrm>
          <a:prstGeom prst="rect">
            <a:avLst/>
          </a:prstGeom>
          <a:solidFill>
            <a:srgbClr val="434348"/>
          </a:solidFill>
          <a:ln/>
        </p:spPr>
      </p:sp>
      <p:sp>
        <p:nvSpPr>
          <p:cNvPr id="14" name="Shape 11"/>
          <p:cNvSpPr/>
          <p:nvPr/>
        </p:nvSpPr>
        <p:spPr>
          <a:xfrm>
            <a:off x="793790" y="4820722"/>
            <a:ext cx="7556421" cy="30480"/>
          </a:xfrm>
          <a:prstGeom prst="roundRect">
            <a:avLst>
              <a:gd name="adj" fmla="val 111628"/>
            </a:avLst>
          </a:prstGeom>
          <a:solidFill>
            <a:srgbClr val="5C5C61"/>
          </a:solidFill>
          <a:ln/>
        </p:spPr>
      </p:sp>
      <p:sp>
        <p:nvSpPr>
          <p:cNvPr id="15" name="Text 12"/>
          <p:cNvSpPr/>
          <p:nvPr/>
        </p:nvSpPr>
        <p:spPr>
          <a:xfrm>
            <a:off x="1020604" y="504753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Uncertainty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1020604" y="5537954"/>
            <a:ext cx="71027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Acknowledges scientific unknowns.</a:t>
            </a:r>
            <a:endParaRPr lang="en-US" sz="1750" dirty="0"/>
          </a:p>
        </p:txBody>
      </p:sp>
      <p:sp>
        <p:nvSpPr>
          <p:cNvPr id="17" name="Text 14"/>
          <p:cNvSpPr/>
          <p:nvPr/>
        </p:nvSpPr>
        <p:spPr>
          <a:xfrm>
            <a:off x="793790" y="6382822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Uses clear, human-level language, avoiding jargon.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2940" y="520898"/>
            <a:ext cx="4735711" cy="591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0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Technology Stack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2940" y="1586389"/>
            <a:ext cx="2367796" cy="295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Frontend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2940" y="2071807"/>
            <a:ext cx="4080748" cy="303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 application (React)</a:t>
            </a:r>
            <a:endParaRPr lang="en-US" sz="14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" y="2587823"/>
            <a:ext cx="4080748" cy="40807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213509" y="1586389"/>
            <a:ext cx="2367796" cy="295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AI Layer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5213509" y="2071807"/>
            <a:ext cx="4080748" cy="303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Large Language Model (LLM)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5213509" y="2441019"/>
            <a:ext cx="4080748" cy="303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Reasoning-driven prompts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5213509" y="2810232"/>
            <a:ext cx="4080748" cy="303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Uncertainty-aware outputs</a:t>
            </a:r>
            <a:endParaRPr lang="en-US" sz="14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3509" y="3326249"/>
            <a:ext cx="4080748" cy="40807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764078" y="1586389"/>
            <a:ext cx="2367796" cy="295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Data</a:t>
            </a:r>
            <a:endParaRPr lang="en-US" sz="1850" dirty="0"/>
          </a:p>
        </p:txBody>
      </p:sp>
      <p:sp>
        <p:nvSpPr>
          <p:cNvPr id="12" name="Text 8"/>
          <p:cNvSpPr/>
          <p:nvPr/>
        </p:nvSpPr>
        <p:spPr>
          <a:xfrm>
            <a:off x="9764078" y="2071807"/>
            <a:ext cx="4218384" cy="303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Simulated/partial data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9764078" y="2441019"/>
            <a:ext cx="4218384" cy="303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OpenFoodFacts or mock datasets</a:t>
            </a:r>
            <a:endParaRPr lang="en-US" sz="145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64078" y="2957036"/>
            <a:ext cx="4218384" cy="421838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62940" y="7833003"/>
            <a:ext cx="13304520" cy="303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philosophy: Experience over data completeness.</a:t>
            </a:r>
            <a:endParaRPr lang="en-US" sz="1450" dirty="0"/>
          </a:p>
        </p:txBody>
      </p:sp>
      <p:sp>
        <p:nvSpPr>
          <p:cNvPr id="16" name="Rectangle 15"/>
          <p:cNvSpPr/>
          <p:nvPr/>
        </p:nvSpPr>
        <p:spPr>
          <a:xfrm>
            <a:off x="12770778" y="7777537"/>
            <a:ext cx="1746606" cy="36987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0094" y="589598"/>
            <a:ext cx="7643813" cy="1339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420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Why Ingredient Co-Pilot Stands Out</a:t>
            </a:r>
            <a:endParaRPr lang="en-US" sz="4200" dirty="0"/>
          </a:p>
        </p:txBody>
      </p:sp>
      <p:sp>
        <p:nvSpPr>
          <p:cNvPr id="4" name="Shape 1"/>
          <p:cNvSpPr/>
          <p:nvPr/>
        </p:nvSpPr>
        <p:spPr>
          <a:xfrm>
            <a:off x="750094" y="2250519"/>
            <a:ext cx="482203" cy="482203"/>
          </a:xfrm>
          <a:prstGeom prst="roundRect">
            <a:avLst>
              <a:gd name="adj" fmla="val 6667"/>
            </a:avLst>
          </a:prstGeom>
          <a:solidFill>
            <a:srgbClr val="434348"/>
          </a:solidFill>
          <a:ln/>
        </p:spPr>
      </p:sp>
      <p:sp>
        <p:nvSpPr>
          <p:cNvPr id="5" name="Text 2"/>
          <p:cNvSpPr/>
          <p:nvPr/>
        </p:nvSpPr>
        <p:spPr>
          <a:xfrm>
            <a:off x="1446609" y="2324100"/>
            <a:ext cx="3213616" cy="334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True AI-Native Interaction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1446609" y="2787491"/>
            <a:ext cx="6947297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is the interface, not just a feature.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750094" y="3559016"/>
            <a:ext cx="482203" cy="482203"/>
          </a:xfrm>
          <a:prstGeom prst="roundRect">
            <a:avLst>
              <a:gd name="adj" fmla="val 6667"/>
            </a:avLst>
          </a:prstGeom>
          <a:solidFill>
            <a:srgbClr val="434348"/>
          </a:solidFill>
          <a:ln/>
        </p:spPr>
      </p:sp>
      <p:sp>
        <p:nvSpPr>
          <p:cNvPr id="8" name="Text 5"/>
          <p:cNvSpPr/>
          <p:nvPr/>
        </p:nvSpPr>
        <p:spPr>
          <a:xfrm>
            <a:off x="1446609" y="3632597"/>
            <a:ext cx="2924889" cy="334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Minimal Cognitive Load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1446609" y="4095988"/>
            <a:ext cx="6947297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Simplifies complex information for users.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750094" y="4867513"/>
            <a:ext cx="482203" cy="482203"/>
          </a:xfrm>
          <a:prstGeom prst="roundRect">
            <a:avLst>
              <a:gd name="adj" fmla="val 6667"/>
            </a:avLst>
          </a:prstGeom>
          <a:solidFill>
            <a:srgbClr val="434348"/>
          </a:solidFill>
          <a:ln/>
        </p:spPr>
      </p:sp>
      <p:sp>
        <p:nvSpPr>
          <p:cNvPr id="11" name="Text 8"/>
          <p:cNvSpPr/>
          <p:nvPr/>
        </p:nvSpPr>
        <p:spPr>
          <a:xfrm>
            <a:off x="1446609" y="4941094"/>
            <a:ext cx="3033593" cy="334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Transparent Uncertainty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1446609" y="5404485"/>
            <a:ext cx="6947297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Honest communication about unknowns.</a:t>
            </a:r>
            <a:endParaRPr lang="en-US" sz="1650" dirty="0"/>
          </a:p>
        </p:txBody>
      </p:sp>
      <p:sp>
        <p:nvSpPr>
          <p:cNvPr id="13" name="Shape 10"/>
          <p:cNvSpPr/>
          <p:nvPr/>
        </p:nvSpPr>
        <p:spPr>
          <a:xfrm>
            <a:off x="750094" y="6176010"/>
            <a:ext cx="482203" cy="482203"/>
          </a:xfrm>
          <a:prstGeom prst="roundRect">
            <a:avLst>
              <a:gd name="adj" fmla="val 6667"/>
            </a:avLst>
          </a:prstGeom>
          <a:solidFill>
            <a:srgbClr val="434348"/>
          </a:solidFill>
          <a:ln/>
        </p:spPr>
      </p:sp>
      <p:sp>
        <p:nvSpPr>
          <p:cNvPr id="14" name="Text 11"/>
          <p:cNvSpPr/>
          <p:nvPr/>
        </p:nvSpPr>
        <p:spPr>
          <a:xfrm>
            <a:off x="1446609" y="6249591"/>
            <a:ext cx="3196709" cy="334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Decision-Moment Design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1446609" y="6712982"/>
            <a:ext cx="6947297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for real-time, impactful choices.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750094" y="7296983"/>
            <a:ext cx="7643813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Strong alignment with ENCODE judging criteria.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456</Words>
  <Application>Microsoft Office PowerPoint</Application>
  <PresentationFormat>Custom</PresentationFormat>
  <Paragraphs>100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Calibri</vt:lpstr>
      <vt:lpstr>Instrument Sans Medium</vt:lpstr>
      <vt:lpstr>Inter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Dell</dc:creator>
  <cp:lastModifiedBy>Dell</cp:lastModifiedBy>
  <cp:revision>4</cp:revision>
  <dcterms:created xsi:type="dcterms:W3CDTF">2026-01-04T14:32:53Z</dcterms:created>
  <dcterms:modified xsi:type="dcterms:W3CDTF">2026-01-05T10:11:06Z</dcterms:modified>
</cp:coreProperties>
</file>